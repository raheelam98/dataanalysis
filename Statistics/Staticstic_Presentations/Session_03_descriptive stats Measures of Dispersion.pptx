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H+PXZTYPl+19PAb98Mwx30tuN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7ce7b3f7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7ce7b3f7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787891" y="3343753"/>
            <a:ext cx="14712218" cy="340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Descriptive Statistics: Measures of Dispersion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630925" y="866900"/>
            <a:ext cx="16780800" cy="9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46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Measures of Dispersion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to understanding variability within data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762" lvl="1" marL="8215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5"/>
              <a:buFont typeface="Arial"/>
              <a:buChar char="•"/>
            </a:pPr>
            <a:r>
              <a:rPr b="0" i="0" lang="en-US" sz="38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assess the spread of data points around the central value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762" lvl="1" marL="8215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5"/>
              <a:buFont typeface="Arial"/>
              <a:buChar char="•"/>
            </a:pPr>
            <a:r>
              <a:rPr b="0" i="0" lang="en-US" sz="38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Crucial for determining data consistency and model performance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762" lvl="1" marL="8215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5"/>
              <a:buFont typeface="Arial"/>
              <a:buChar char="•"/>
            </a:pPr>
            <a:r>
              <a:rPr b="0" i="0" lang="en-US" sz="38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to detect outliers and understand data distribution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762" lvl="1" marL="8215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5"/>
              <a:buFont typeface="Arial"/>
              <a:buChar char="•"/>
            </a:pPr>
            <a:r>
              <a:rPr b="0" i="0" lang="en-US" sz="38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Essential for model selection, data preprocessing, and risk assessment</a:t>
            </a:r>
            <a:endParaRPr/>
          </a:p>
          <a:p>
            <a:pPr indent="0" lvl="0" marL="0" marR="0" rtl="0" algn="ctr">
              <a:lnSpc>
                <a:spcPct val="181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487331" y="2232308"/>
            <a:ext cx="16392841" cy="6430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Measures of Dispersion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1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48453" lvl="2" marL="2245359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⚬"/>
            </a:pPr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Range: </a:t>
            </a:r>
            <a:r>
              <a:rPr b="0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value - Min value</a:t>
            </a:r>
            <a:endParaRPr/>
          </a:p>
          <a:p>
            <a:pPr indent="-748453" lvl="2" marL="2245359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⚬"/>
            </a:pPr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Variance: </a:t>
            </a:r>
            <a:r>
              <a:rPr b="0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squared deviation from the mean</a:t>
            </a:r>
            <a:endParaRPr/>
          </a:p>
          <a:p>
            <a:pPr indent="-748453" lvl="2" marL="2245359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⚬"/>
            </a:pPr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Deviation: </a:t>
            </a:r>
            <a:r>
              <a:rPr b="0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Square root of variance</a:t>
            </a:r>
            <a:endParaRPr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67ce7b3f73_0_1" title="Screenshot 2025-06-12 at 1.23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625" y="402013"/>
            <a:ext cx="17212575" cy="948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748451" y="516573"/>
            <a:ext cx="16207500" cy="101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endParaRPr b="1" sz="50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Indicates the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spread between the minimum and maximum values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a dataset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in Data Science: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a simple measure of variability, useful for identifying data outliers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prices: $50, $100, $200, $500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 = $500 - $50 = $450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1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Important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Helps identify the range of possible values in a dataset, which is critical in data cleaning and exploration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4943043" y="759773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851773" y="453390"/>
            <a:ext cx="16207500" cy="9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endParaRPr b="1" sz="50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Measures the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squared deviation from the mean.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in Data Science: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for understanding the consistency or variability of data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Monthly sales: $10, $20, $30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= $20, Variance = 66.67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1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Important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Used to assess how much a dataset differs from the mean, essential for modeling and risk analysis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15405093" y="273398"/>
            <a:ext cx="2501650" cy="537855"/>
          </a:xfrm>
          <a:custGeom>
            <a:rect b="b" l="l" r="r" t="t"/>
            <a:pathLst>
              <a:path extrusionOk="0" h="537855" w="2501650">
                <a:moveTo>
                  <a:pt x="0" y="0"/>
                </a:moveTo>
                <a:lnTo>
                  <a:pt x="2501650" y="0"/>
                </a:lnTo>
                <a:lnTo>
                  <a:pt x="2501650" y="537854"/>
                </a:lnTo>
                <a:lnTo>
                  <a:pt x="0" y="53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493675" y="50252"/>
            <a:ext cx="16207500" cy="101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99">
                <a:solidFill>
                  <a:srgbClr val="0A8F0A"/>
                </a:solidFill>
                <a:latin typeface="Arial"/>
                <a:ea typeface="Arial"/>
                <a:cs typeface="Arial"/>
                <a:sym typeface="Arial"/>
              </a:rPr>
              <a:t>Standard Deviation:</a:t>
            </a:r>
            <a:endParaRPr b="1" sz="5099">
              <a:solidFill>
                <a:srgbClr val="0A8F0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square root of variance, providing a measure of spread in the same units as the data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in Data Science: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Used for assessing the precision of data and model performance</a:t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Monthly sales: $10, $20, $30 ; Mean = $20, </a:t>
            </a:r>
            <a:r>
              <a:rPr b="1" i="0" lang="en-US" sz="3600" u="none" cap="none" strike="noStrike">
                <a:solidFill>
                  <a:srgbClr val="000000"/>
                </a:solidFill>
              </a:rPr>
              <a:t>Variance = 66.67</a:t>
            </a:r>
            <a:endParaRPr b="1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600"/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(The sales figures deviate from the mean by $8.16 or $8)</a:t>
            </a:r>
            <a:endParaRPr sz="3600"/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1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It’s Important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Helps evaluate model predictions, risk assessment, and data precision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715650" y="5833639"/>
            <a:ext cx="9337357" cy="905663"/>
          </a:xfrm>
          <a:custGeom>
            <a:rect b="b" l="l" r="r" t="t"/>
            <a:pathLst>
              <a:path extrusionOk="0" h="1062361" w="10732594">
                <a:moveTo>
                  <a:pt x="0" y="0"/>
                </a:moveTo>
                <a:lnTo>
                  <a:pt x="10732595" y="0"/>
                </a:lnTo>
                <a:lnTo>
                  <a:pt x="10732595" y="1062361"/>
                </a:lnTo>
                <a:lnTo>
                  <a:pt x="0" y="106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189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