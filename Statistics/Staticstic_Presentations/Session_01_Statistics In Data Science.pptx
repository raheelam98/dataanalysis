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jH8j//BByv+jv2aRIABDA0Tfua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our last video, we have established the importnace of "statistics" in data science and its types.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ll now discuss "descriptive statistics" in details and will take a deeper dive of  it's applications in data analysis. 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8" name="Google Shape;98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our last video, we have established the importnace of "statistics" in data science and its types.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ll now discuss "descriptive statistics" in details and will take a deeper dive of  it's applications in data analysis. </a:t>
            </a:r>
            <a:endParaRPr/>
          </a:p>
        </p:txBody>
      </p:sp>
      <p:sp>
        <p:nvSpPr>
          <p:cNvPr id="100" name="Google Shape;100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0" name="Google Shape;110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our last video, we have established the importnace of "statistics" in data science and its types.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ll now discuss "descriptive statistics" in details and will take a deeper dive of  it's applications in data analysis. </a:t>
            </a:r>
            <a:endParaRPr/>
          </a:p>
        </p:txBody>
      </p:sp>
      <p:sp>
        <p:nvSpPr>
          <p:cNvPr id="112" name="Google Shape;112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2" name="Google Shape;122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our last video, we have established the importnace of "statistics" in data science and its types.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ll now discuss "descriptive statistics" in details and will take a deeper dive of  it's applications in data analysis. </a:t>
            </a:r>
            <a:endParaRPr/>
          </a:p>
        </p:txBody>
      </p:sp>
      <p:sp>
        <p:nvSpPr>
          <p:cNvPr id="124" name="Google Shape;124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4" name="Google Shape;134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our last video, we have established the importnace of "statistics" in data science and its types.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ll now discuss "descriptive statistics" in details and will take a deeper dive of  it's applications in data analysis. </a:t>
            </a:r>
            <a:endParaRPr/>
          </a:p>
        </p:txBody>
      </p:sp>
      <p:sp>
        <p:nvSpPr>
          <p:cNvPr id="136" name="Google Shape;136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6" name="Google Shape;146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our last video, we have established the importnace of "statistics" in data science and its types.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ll now discuss "descriptive statistics" in details and will take a deeper dive of  it's applications in data analysis. </a:t>
            </a:r>
            <a:endParaRPr/>
          </a:p>
        </p:txBody>
      </p:sp>
      <p:sp>
        <p:nvSpPr>
          <p:cNvPr id="148" name="Google Shape;148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9" name="Google Shape;159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our last video, we have established the importnace of "statistics" in data science and its types.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ll now discuss "descriptive statistics" in details and will take a deeper dive of  it's applications in data analysis. </a:t>
            </a:r>
            <a:endParaRPr/>
          </a:p>
        </p:txBody>
      </p:sp>
      <p:sp>
        <p:nvSpPr>
          <p:cNvPr id="161" name="Google Shape;161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991321" y="3151981"/>
            <a:ext cx="12305358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Statistics in Data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906035" y="4133215"/>
            <a:ext cx="15287833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34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5775" lvl="1" marL="971550" marR="0" rtl="0" algn="just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Char char="•"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 what’s happening in the data</a:t>
            </a:r>
            <a:endParaRPr/>
          </a:p>
          <a:p>
            <a:pPr indent="0" lvl="0" marL="0" marR="0" rtl="0" algn="just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5775" lvl="1" marL="971550" marR="0" rtl="0" algn="just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Char char="•"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 what might happen next</a:t>
            </a:r>
            <a:endParaRPr/>
          </a:p>
          <a:p>
            <a:pPr indent="0" lvl="0" marL="0" marR="0" rtl="0" algn="just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070026" y="2502070"/>
            <a:ext cx="16374667" cy="1127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Statistics helps data scientists: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906035" y="5067300"/>
            <a:ext cx="15287833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Descriptive Statistics</a:t>
            </a:r>
            <a:r>
              <a:rPr lang="en-US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What’s happening?</a:t>
            </a:r>
            <a:endParaRPr/>
          </a:p>
          <a:p>
            <a:pPr indent="0" lvl="0" marL="0" marR="0" rtl="0" algn="just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Inferential Statistics</a:t>
            </a:r>
            <a:r>
              <a:rPr lang="en-US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What’s likely to happen next?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884633" y="2946094"/>
            <a:ext cx="16374667" cy="1127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Types of Statistics in Data Science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906035" y="4981893"/>
            <a:ext cx="15287833" cy="442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3390" lvl="1" marL="90678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average number of items bought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3390" lvl="1" marL="90678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top-selling products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3390" lvl="1" marL="90678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 spread in customer spending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718290" y="1925350"/>
            <a:ext cx="163746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00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Descriptive Statistics – Understanding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00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the Data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906035" y="4981893"/>
            <a:ext cx="15287833" cy="442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3390" lvl="1" marL="90678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 what customers might buy next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3390" lvl="1" marL="90678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which webpage layout boosts sales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3390" lvl="1" marL="90678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•"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Estimate future sales from a sample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680926" y="2065975"/>
            <a:ext cx="163746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00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Inferential Statistics – Predicting from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00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the Data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1238438" y="2313415"/>
            <a:ext cx="15287700" cy="7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31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4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Descriptive</a:t>
            </a:r>
            <a:r>
              <a:rPr lang="en-US" sz="4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442596" lvl="1" marL="88519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Char char="•"/>
            </a:pPr>
            <a:r>
              <a:rPr b="0" i="0" lang="en-US" sz="4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order value</a:t>
            </a:r>
            <a:endParaRPr/>
          </a:p>
          <a:p>
            <a:pPr indent="-442596" lvl="1" marL="88519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Char char="•"/>
            </a:pPr>
            <a:r>
              <a:rPr b="0" i="0" lang="en-US" sz="4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Most-viewed products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4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Inferential</a:t>
            </a:r>
            <a:r>
              <a:rPr lang="en-US" sz="4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442596" lvl="1" marL="88519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Char char="•"/>
            </a:pPr>
            <a:r>
              <a:rPr b="0" i="0" lang="en-US" sz="4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Will a user buy again next week?</a:t>
            </a:r>
            <a:endParaRPr/>
          </a:p>
          <a:p>
            <a:pPr indent="-442596" lvl="1" marL="88519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Char char="•"/>
            </a:pPr>
            <a:r>
              <a:rPr b="0" i="0" lang="en-US" sz="4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offer increases conversions?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0372055" y="1440983"/>
            <a:ext cx="3375041" cy="1020950"/>
          </a:xfrm>
          <a:custGeom>
            <a:rect b="b" l="l" r="r" t="t"/>
            <a:pathLst>
              <a:path extrusionOk="0" h="1020950" w="3375041">
                <a:moveTo>
                  <a:pt x="0" y="0"/>
                </a:moveTo>
                <a:lnTo>
                  <a:pt x="3375041" y="0"/>
                </a:lnTo>
                <a:lnTo>
                  <a:pt x="3375041" y="1020949"/>
                </a:lnTo>
                <a:lnTo>
                  <a:pt x="0" y="1020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1070026" y="1297631"/>
            <a:ext cx="899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Real-World Example –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243175" y="3854900"/>
            <a:ext cx="18045439" cy="3765579"/>
          </a:xfrm>
          <a:custGeom>
            <a:rect b="b" l="l" r="r" t="t"/>
            <a:pathLst>
              <a:path extrusionOk="0" h="3765579" w="19561451">
                <a:moveTo>
                  <a:pt x="0" y="0"/>
                </a:moveTo>
                <a:lnTo>
                  <a:pt x="19561451" y="0"/>
                </a:lnTo>
                <a:lnTo>
                  <a:pt x="19561451" y="3765579"/>
                </a:lnTo>
                <a:lnTo>
                  <a:pt x="0" y="3765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641096" y="1331507"/>
            <a:ext cx="11243799" cy="1127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Descriptive vs Inferential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