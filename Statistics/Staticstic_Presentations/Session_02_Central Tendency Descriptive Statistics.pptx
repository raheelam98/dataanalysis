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2" roundtripDataSignature="AMtx7mioqZyI8gs/2tjWfaweXcR6qiNQ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customschemas.google.com/relationships/presentationmetadata" Target="meta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3" name="Google Shape;93;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94" name="Google Shape;94;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Central Tendency is a critical concept in Descriptive Statistics used to summarize and represent the 'center' or 'typical' value of a dataset.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The goal of central tendency is to reduce large datasets to a single value that best represents the data, allowing us to make comparisons and understand general patterns.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In data science, this is essential because, often, we are working with large, complex datasets. Central tendency allows us to easily grasp the general trend of the data without getting lost in the noise.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It is very useful in predictive modeling.</a:t>
            </a:r>
            <a:endParaRPr/>
          </a:p>
        </p:txBody>
      </p:sp>
      <p:sp>
        <p:nvSpPr>
          <p:cNvPr id="96" name="Google Shape;96;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7" name="Google Shape;97;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05" name="Google Shape;105;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now see the metrics that summarize the dataset. You might have heard these terms before but now we ll see their relevance in data science or data analysis. </a:t>
            </a:r>
            <a:endParaRPr/>
          </a:p>
          <a:p>
            <a:pPr indent="0" lvl="0" marL="0" rtl="0" algn="l">
              <a:spcBef>
                <a:spcPts val="0"/>
              </a:spcBef>
              <a:spcAft>
                <a:spcPts val="0"/>
              </a:spcAft>
              <a:buNone/>
            </a:pPr>
            <a:r>
              <a:rPr lang="en-US"/>
              <a:t>Let’s first their very basic definitions. </a:t>
            </a:r>
            <a:endParaRPr/>
          </a:p>
          <a:p>
            <a:pPr indent="0" lvl="0" marL="0" rtl="0" algn="l">
              <a:spcBef>
                <a:spcPts val="0"/>
              </a:spcBef>
              <a:spcAft>
                <a:spcPts val="0"/>
              </a:spcAft>
              <a:buNone/>
            </a:pPr>
            <a:r>
              <a:rPr lang="en-US"/>
              <a:t>•	The Mean is the average of all values.</a:t>
            </a:r>
            <a:endParaRPr/>
          </a:p>
          <a:p>
            <a:pPr indent="0" lvl="0" marL="0" rtl="0" algn="l">
              <a:spcBef>
                <a:spcPts val="0"/>
              </a:spcBef>
              <a:spcAft>
                <a:spcPts val="0"/>
              </a:spcAft>
              <a:buNone/>
            </a:pPr>
            <a:r>
              <a:rPr lang="en-US"/>
              <a:t>•	The Median represents the middle value when data is ordered.</a:t>
            </a:r>
            <a:endParaRPr/>
          </a:p>
          <a:p>
            <a:pPr indent="0" lvl="0" marL="0" rtl="0" algn="l">
              <a:spcBef>
                <a:spcPts val="0"/>
              </a:spcBef>
              <a:spcAft>
                <a:spcPts val="0"/>
              </a:spcAft>
              <a:buNone/>
            </a:pPr>
            <a:r>
              <a:rPr lang="en-US"/>
              <a:t>•	The Mode is the most frequent value in the dataset."</a:t>
            </a:r>
            <a:endParaRPr/>
          </a:p>
          <a:p>
            <a:pPr indent="0" lvl="0" marL="0" rtl="0" algn="l">
              <a:spcBef>
                <a:spcPts val="0"/>
              </a:spcBef>
              <a:spcAft>
                <a:spcPts val="0"/>
              </a:spcAft>
              <a:buNone/>
            </a:pPr>
            <a:r>
              <a:rPr lang="en-US"/>
              <a:t>Each of these metrics are very useful in data analysis and with expamples we ll see how. </a:t>
            </a:r>
            <a:endParaRPr/>
          </a:p>
        </p:txBody>
      </p:sp>
      <p:sp>
        <p:nvSpPr>
          <p:cNvPr id="107" name="Google Shape;107;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8" name="Google Shape;108;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5" name="Google Shape;11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16" name="Google Shape;116;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a:t>
            </a:r>
            <a:endParaRPr/>
          </a:p>
          <a:p>
            <a:pPr indent="0" lvl="0" marL="0" rtl="0" algn="l">
              <a:spcBef>
                <a:spcPts val="0"/>
              </a:spcBef>
              <a:spcAft>
                <a:spcPts val="0"/>
              </a:spcAft>
              <a:buNone/>
            </a:pPr>
            <a:r>
              <a:rPr lang="en-US"/>
              <a:t>"The Mean is the average of all values in a dataset.</a:t>
            </a:r>
            <a:endParaRPr/>
          </a:p>
          <a:p>
            <a:pPr indent="0" lvl="0" marL="0" rtl="0" algn="l">
              <a:spcBef>
                <a:spcPts val="0"/>
              </a:spcBef>
              <a:spcAft>
                <a:spcPts val="0"/>
              </a:spcAft>
              <a:buNone/>
            </a:pPr>
            <a:r>
              <a:rPr lang="en-US"/>
              <a:t>In Data Science, the Mean is essential for summarizing large-scale datasets and understanding the central trend.</a:t>
            </a:r>
            <a:endParaRPr/>
          </a:p>
          <a:p>
            <a:pPr indent="0" lvl="0" marL="0" rtl="0" algn="l">
              <a:spcBef>
                <a:spcPts val="0"/>
              </a:spcBef>
              <a:spcAft>
                <a:spcPts val="0"/>
              </a:spcAft>
              <a:buNone/>
            </a:pPr>
            <a:r>
              <a:rPr lang="en-US"/>
              <a:t>•	Example: If you’re analyzing monthly sales for a retail store, the mean gives you a good representation of average sales, which is important for tracking trends and understanding performance.</a:t>
            </a:r>
            <a:endParaRPr/>
          </a:p>
          <a:p>
            <a:pPr indent="0" lvl="0" marL="0" rtl="0" algn="l">
              <a:spcBef>
                <a:spcPts val="0"/>
              </a:spcBef>
              <a:spcAft>
                <a:spcPts val="0"/>
              </a:spcAft>
              <a:buNone/>
            </a:pPr>
            <a:r>
              <a:rPr lang="en-US"/>
              <a:t>•	Why it’s useful: In predictive modeling, the mean serves as a baseline. For example, when developing a machine learning model to predict future sales, you’ll often compare the model’s predictions against the mean to evaluate its accuracy. The closer the predictions are to the mean, the better the model’s performance."</a:t>
            </a:r>
            <a:endParaRPr/>
          </a:p>
        </p:txBody>
      </p:sp>
      <p:sp>
        <p:nvSpPr>
          <p:cNvPr id="118" name="Google Shape;11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9" name="Google Shape;11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7" name="Google Shape;127;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28" name="Google Shape;128;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Median</a:t>
            </a:r>
            <a:endParaRPr/>
          </a:p>
          <a:p>
            <a:pPr indent="0" lvl="0" marL="0" rtl="0" algn="l">
              <a:spcBef>
                <a:spcPts val="0"/>
              </a:spcBef>
              <a:spcAft>
                <a:spcPts val="0"/>
              </a:spcAft>
              <a:buNone/>
            </a:pPr>
            <a:r>
              <a:rPr lang="en-US"/>
              <a:t>The Median is key in Data Science when dealing with skewed datasets or datasets with outliers.</a:t>
            </a:r>
            <a:endParaRPr/>
          </a:p>
          <a:p>
            <a:pPr indent="0" lvl="0" marL="0" rtl="0" algn="l">
              <a:spcBef>
                <a:spcPts val="0"/>
              </a:spcBef>
              <a:spcAft>
                <a:spcPts val="0"/>
              </a:spcAft>
              <a:buNone/>
            </a:pPr>
            <a:r>
              <a:rPr lang="en-US"/>
              <a:t>•	Example: Imagine analyzing employee salaries at a company. Most employees earn between $30K and $75K, but a few earn significantly more, say $200K. The mean salary could be skewed by those high earners, making it less representative of the typical employee. The median, however, will remain unaffected by those outliers and give a more accurate representation of the ‘typical’ salary.</a:t>
            </a:r>
            <a:endParaRPr/>
          </a:p>
          <a:p>
            <a:pPr indent="0" lvl="0" marL="0" rtl="0" algn="l">
              <a:spcBef>
                <a:spcPts val="0"/>
              </a:spcBef>
              <a:spcAft>
                <a:spcPts val="0"/>
              </a:spcAft>
              <a:buNone/>
            </a:pPr>
            <a:r>
              <a:rPr lang="en-US"/>
              <a:t>•	Why it’s crucial: In data science, when working with financial datasets like salaries, property prices, or income data, the median provides a better central value than the mean when the data is skewed."</a:t>
            </a:r>
            <a:endParaRPr/>
          </a:p>
        </p:txBody>
      </p:sp>
      <p:sp>
        <p:nvSpPr>
          <p:cNvPr id="130" name="Google Shape;130;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1" name="Google Shape;131;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8" name="Google Shape;138;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39" name="Google Shape;139;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 is particularly useful in Data Science for identifying the most frequent values in a dataset, especially when working with categorical data.</a:t>
            </a:r>
            <a:endParaRPr/>
          </a:p>
          <a:p>
            <a:pPr indent="0" lvl="0" marL="0" rtl="0" algn="l">
              <a:spcBef>
                <a:spcPts val="0"/>
              </a:spcBef>
              <a:spcAft>
                <a:spcPts val="0"/>
              </a:spcAft>
              <a:buNone/>
            </a:pPr>
            <a:r>
              <a:rPr lang="en-US"/>
              <a:t>•	Example: Let’s say you conduct a customer satisfaction survey, where respondents rate their experience on a scale of 1 to 5. If the mode is 4, it means that most customers rated their experience as ‘good’ (somewhat satisfied). This insight helps you understand the prevailing sentiment of your customers.</a:t>
            </a:r>
            <a:endParaRPr/>
          </a:p>
          <a:p>
            <a:pPr indent="0" lvl="0" marL="0" rtl="0" algn="l">
              <a:spcBef>
                <a:spcPts val="0"/>
              </a:spcBef>
              <a:spcAft>
                <a:spcPts val="0"/>
              </a:spcAft>
              <a:buNone/>
            </a:pPr>
            <a:r>
              <a:rPr lang="en-US"/>
              <a:t>•	Why it matters: In market research and user behavior analysis, the mode is crucial for identifying the most common behaviors, preferences, or responses. This can influence product designs, marketing strategies, and customer service decisions."</a:t>
            </a:r>
            <a:endParaRPr/>
          </a:p>
        </p:txBody>
      </p:sp>
      <p:sp>
        <p:nvSpPr>
          <p:cNvPr id="141" name="Google Shape;141;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2" name="Google Shape;142;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1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p:nvPr>
            <p:ph idx="2" type="pic"/>
          </p:nvPr>
        </p:nvSpPr>
        <p:spPr>
          <a:xfrm>
            <a:off x="1792288" y="612775"/>
            <a:ext cx="5486400" cy="4114800"/>
          </a:xfrm>
          <a:prstGeom prst="rect">
            <a:avLst/>
          </a:prstGeom>
          <a:noFill/>
          <a:ln>
            <a:noFill/>
          </a:ln>
        </p:spPr>
      </p:sp>
      <p:sp>
        <p:nvSpPr>
          <p:cNvPr id="68" name="Google Shape;68;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14943043" y="759773"/>
            <a:ext cx="2501650" cy="537855"/>
          </a:xfrm>
          <a:custGeom>
            <a:rect b="b" l="l" r="r" t="t"/>
            <a:pathLst>
              <a:path extrusionOk="0" h="537855" w="2501650">
                <a:moveTo>
                  <a:pt x="0" y="0"/>
                </a:moveTo>
                <a:lnTo>
                  <a:pt x="2501650" y="0"/>
                </a:lnTo>
                <a:lnTo>
                  <a:pt x="2501650" y="537854"/>
                </a:lnTo>
                <a:lnTo>
                  <a:pt x="0" y="5378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1"/>
          <p:cNvSpPr txBox="1"/>
          <p:nvPr/>
        </p:nvSpPr>
        <p:spPr>
          <a:xfrm>
            <a:off x="1787891" y="3343753"/>
            <a:ext cx="14712218" cy="3408994"/>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1" lang="en-US" sz="9787">
                <a:solidFill>
                  <a:srgbClr val="000000"/>
                </a:solidFill>
                <a:latin typeface="Arial"/>
                <a:ea typeface="Arial"/>
                <a:cs typeface="Arial"/>
                <a:sym typeface="Arial"/>
              </a:rPr>
              <a:t>Central Tendency in Descriptive Statistics</a:t>
            </a:r>
            <a:endParaRPr/>
          </a:p>
        </p:txBody>
      </p:sp>
      <p:sp>
        <p:nvSpPr>
          <p:cNvPr id="90" name="Google Shape;90;p1"/>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000000"/>
                </a:solidFill>
                <a:latin typeface="Arial"/>
                <a:ea typeface="Arial"/>
                <a:cs typeface="Arial"/>
                <a:sym typeface="Arial"/>
              </a:rPr>
              <a:t>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p:nvPr/>
        </p:nvSpPr>
        <p:spPr>
          <a:xfrm>
            <a:off x="14943043" y="759773"/>
            <a:ext cx="2501650" cy="537855"/>
          </a:xfrm>
          <a:custGeom>
            <a:rect b="b" l="l" r="r" t="t"/>
            <a:pathLst>
              <a:path extrusionOk="0" h="537855" w="2501650">
                <a:moveTo>
                  <a:pt x="0" y="0"/>
                </a:moveTo>
                <a:lnTo>
                  <a:pt x="2501650" y="0"/>
                </a:lnTo>
                <a:lnTo>
                  <a:pt x="2501650" y="537854"/>
                </a:lnTo>
                <a:lnTo>
                  <a:pt x="0" y="5378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2"/>
          <p:cNvSpPr txBox="1"/>
          <p:nvPr/>
        </p:nvSpPr>
        <p:spPr>
          <a:xfrm>
            <a:off x="1028700" y="933450"/>
            <a:ext cx="16207448" cy="9135745"/>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lang="en-US" sz="5199">
                <a:solidFill>
                  <a:srgbClr val="0A8F0A"/>
                </a:solidFill>
                <a:latin typeface="Arial"/>
                <a:ea typeface="Arial"/>
                <a:cs typeface="Arial"/>
                <a:sym typeface="Arial"/>
              </a:rPr>
              <a:t>Measures of Central Tendency</a:t>
            </a:r>
            <a:endParaRPr/>
          </a:p>
          <a:p>
            <a:pPr indent="0" lvl="0" marL="0" marR="0" rtl="0" algn="l">
              <a:lnSpc>
                <a:spcPct val="140007"/>
              </a:lnSpc>
              <a:spcBef>
                <a:spcPts val="0"/>
              </a:spcBef>
              <a:spcAft>
                <a:spcPts val="0"/>
              </a:spcAft>
              <a:buNone/>
            </a:pPr>
            <a:r>
              <a:t/>
            </a:r>
            <a:endParaRPr b="1" sz="5199">
              <a:solidFill>
                <a:srgbClr val="0A8F0A"/>
              </a:solidFill>
              <a:latin typeface="Arial"/>
              <a:ea typeface="Arial"/>
              <a:cs typeface="Arial"/>
              <a:sym typeface="Arial"/>
            </a:endParaRPr>
          </a:p>
          <a:p>
            <a:pPr indent="-485777" lvl="1" marL="971553" marR="0" rtl="0" algn="l">
              <a:lnSpc>
                <a:spcPct val="140000"/>
              </a:lnSpc>
              <a:spcBef>
                <a:spcPts val="0"/>
              </a:spcBef>
              <a:spcAft>
                <a:spcPts val="0"/>
              </a:spcAft>
              <a:buClr>
                <a:srgbClr val="000000"/>
              </a:buClr>
              <a:buSzPts val="4500"/>
              <a:buFont typeface="Arial"/>
              <a:buChar char="•"/>
            </a:pPr>
            <a:r>
              <a:rPr b="1" i="0" lang="en-US" sz="4500" u="none" cap="none" strike="noStrike">
                <a:solidFill>
                  <a:srgbClr val="000000"/>
                </a:solidFill>
                <a:latin typeface="Arial"/>
                <a:ea typeface="Arial"/>
                <a:cs typeface="Arial"/>
                <a:sym typeface="Arial"/>
              </a:rPr>
              <a:t>A measure that defines the center or typical value of a dataset</a:t>
            </a:r>
            <a:endParaRPr/>
          </a:p>
          <a:p>
            <a:pPr indent="-485777" lvl="1" marL="971553" marR="0" rtl="0" algn="l">
              <a:lnSpc>
                <a:spcPct val="140000"/>
              </a:lnSpc>
              <a:spcBef>
                <a:spcPts val="0"/>
              </a:spcBef>
              <a:spcAft>
                <a:spcPts val="0"/>
              </a:spcAft>
              <a:buClr>
                <a:srgbClr val="000000"/>
              </a:buClr>
              <a:buSzPts val="4500"/>
              <a:buFont typeface="Arial"/>
              <a:buChar char="•"/>
            </a:pPr>
            <a:r>
              <a:rPr b="0" i="0" lang="en-US" sz="4500" u="none" cap="none" strike="noStrike">
                <a:solidFill>
                  <a:srgbClr val="000000"/>
                </a:solidFill>
                <a:latin typeface="Arial"/>
                <a:ea typeface="Arial"/>
                <a:cs typeface="Arial"/>
                <a:sym typeface="Arial"/>
              </a:rPr>
              <a:t>To summarize large datasets and give a clear overview of typical values</a:t>
            </a:r>
            <a:endParaRPr/>
          </a:p>
          <a:p>
            <a:pPr indent="0" lvl="0" marL="0" marR="0" rtl="0" algn="l">
              <a:lnSpc>
                <a:spcPct val="140000"/>
              </a:lnSpc>
              <a:spcBef>
                <a:spcPts val="0"/>
              </a:spcBef>
              <a:spcAft>
                <a:spcPts val="0"/>
              </a:spcAft>
              <a:buNone/>
            </a:pPr>
            <a:r>
              <a:t/>
            </a:r>
            <a:endParaRPr sz="4500">
              <a:solidFill>
                <a:srgbClr val="000000"/>
              </a:solidFill>
              <a:latin typeface="Arial"/>
              <a:ea typeface="Arial"/>
              <a:cs typeface="Arial"/>
              <a:sym typeface="Arial"/>
            </a:endParaRPr>
          </a:p>
          <a:p>
            <a:pPr indent="-485777" lvl="1" marL="971553" marR="0" rtl="0" algn="l">
              <a:lnSpc>
                <a:spcPct val="140000"/>
              </a:lnSpc>
              <a:spcBef>
                <a:spcPts val="0"/>
              </a:spcBef>
              <a:spcAft>
                <a:spcPts val="0"/>
              </a:spcAft>
              <a:buClr>
                <a:srgbClr val="000000"/>
              </a:buClr>
              <a:buSzPts val="4500"/>
              <a:buFont typeface="Arial"/>
              <a:buChar char="•"/>
            </a:pPr>
            <a:r>
              <a:rPr b="0" i="0" lang="en-US" sz="4500" u="none" cap="none" strike="noStrike">
                <a:solidFill>
                  <a:srgbClr val="000000"/>
                </a:solidFill>
                <a:latin typeface="Arial"/>
                <a:ea typeface="Arial"/>
                <a:cs typeface="Arial"/>
                <a:sym typeface="Arial"/>
              </a:rPr>
              <a:t>Key in Data Science: Understanding central tendency helps simplify complex data and enables meaningful comparisons</a:t>
            </a:r>
            <a:endParaRPr/>
          </a:p>
          <a:p>
            <a:pPr indent="0" lvl="0" marL="0" marR="0" rtl="0" algn="ctr">
              <a:lnSpc>
                <a:spcPct val="161755"/>
              </a:lnSpc>
              <a:spcBef>
                <a:spcPts val="0"/>
              </a:spcBef>
              <a:spcAft>
                <a:spcPts val="0"/>
              </a:spcAft>
              <a:buNone/>
            </a:pPr>
            <a:r>
              <a:t/>
            </a:r>
            <a:endParaRPr sz="4500">
              <a:solidFill>
                <a:srgbClr val="000000"/>
              </a:solidFill>
              <a:latin typeface="Arial"/>
              <a:ea typeface="Arial"/>
              <a:cs typeface="Arial"/>
              <a:sym typeface="Arial"/>
            </a:endParaRPr>
          </a:p>
        </p:txBody>
      </p:sp>
      <p:sp>
        <p:nvSpPr>
          <p:cNvPr id="101" name="Google Shape;101;p2"/>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0A8F0A"/>
                </a:solidFill>
                <a:latin typeface="Arial"/>
                <a:ea typeface="Arial"/>
                <a:cs typeface="Arial"/>
                <a:sym typeface="Arial"/>
              </a:rPr>
              <a:t>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14943043" y="759773"/>
            <a:ext cx="2501650" cy="537855"/>
          </a:xfrm>
          <a:custGeom>
            <a:rect b="b" l="l" r="r" t="t"/>
            <a:pathLst>
              <a:path extrusionOk="0" h="537855" w="2501650">
                <a:moveTo>
                  <a:pt x="0" y="0"/>
                </a:moveTo>
                <a:lnTo>
                  <a:pt x="2501650" y="0"/>
                </a:lnTo>
                <a:lnTo>
                  <a:pt x="2501650" y="537854"/>
                </a:lnTo>
                <a:lnTo>
                  <a:pt x="0" y="5378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3"/>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0A8F0A"/>
                </a:solidFill>
                <a:latin typeface="Arial"/>
                <a:ea typeface="Arial"/>
                <a:cs typeface="Arial"/>
                <a:sym typeface="Arial"/>
              </a:rPr>
              <a:t>9</a:t>
            </a:r>
            <a:endParaRPr/>
          </a:p>
        </p:txBody>
      </p:sp>
      <p:sp>
        <p:nvSpPr>
          <p:cNvPr id="112" name="Google Shape;112;p3"/>
          <p:cNvSpPr txBox="1"/>
          <p:nvPr/>
        </p:nvSpPr>
        <p:spPr>
          <a:xfrm>
            <a:off x="1051852" y="1722755"/>
            <a:ext cx="16207448" cy="7535545"/>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lang="en-US" sz="5199">
                <a:solidFill>
                  <a:srgbClr val="0A8F0A"/>
                </a:solidFill>
                <a:latin typeface="Arial"/>
                <a:ea typeface="Arial"/>
                <a:cs typeface="Arial"/>
                <a:sym typeface="Arial"/>
              </a:rPr>
              <a:t>Measures of Central Tendency</a:t>
            </a:r>
            <a:endParaRPr/>
          </a:p>
          <a:p>
            <a:pPr indent="0" lvl="0" marL="0" marR="0" rtl="0" algn="l">
              <a:lnSpc>
                <a:spcPct val="140007"/>
              </a:lnSpc>
              <a:spcBef>
                <a:spcPts val="0"/>
              </a:spcBef>
              <a:spcAft>
                <a:spcPts val="0"/>
              </a:spcAft>
              <a:buNone/>
            </a:pPr>
            <a:r>
              <a:t/>
            </a:r>
            <a:endParaRPr b="1" sz="5199">
              <a:solidFill>
                <a:srgbClr val="0A8F0A"/>
              </a:solidFill>
              <a:latin typeface="Arial"/>
              <a:ea typeface="Arial"/>
              <a:cs typeface="Arial"/>
              <a:sym typeface="Arial"/>
            </a:endParaRPr>
          </a:p>
          <a:p>
            <a:pPr indent="0" lvl="0" marL="0" marR="0" rtl="0" algn="l">
              <a:lnSpc>
                <a:spcPct val="140000"/>
              </a:lnSpc>
              <a:spcBef>
                <a:spcPts val="0"/>
              </a:spcBef>
              <a:spcAft>
                <a:spcPts val="0"/>
              </a:spcAft>
              <a:buNone/>
            </a:pPr>
            <a:r>
              <a:rPr lang="en-US" sz="4500">
                <a:solidFill>
                  <a:srgbClr val="000000"/>
                </a:solidFill>
                <a:latin typeface="Arial"/>
                <a:ea typeface="Arial"/>
                <a:cs typeface="Arial"/>
                <a:sym typeface="Arial"/>
              </a:rPr>
              <a:t>Key metrics to summarize the central point of a dataset</a:t>
            </a:r>
            <a:endParaRPr/>
          </a:p>
          <a:p>
            <a:pPr indent="0" lvl="0" marL="0" marR="0" rtl="0" algn="l">
              <a:lnSpc>
                <a:spcPct val="140000"/>
              </a:lnSpc>
              <a:spcBef>
                <a:spcPts val="0"/>
              </a:spcBef>
              <a:spcAft>
                <a:spcPts val="0"/>
              </a:spcAft>
              <a:buNone/>
            </a:pPr>
            <a:r>
              <a:t/>
            </a:r>
            <a:endParaRPr sz="4500">
              <a:solidFill>
                <a:srgbClr val="000000"/>
              </a:solidFill>
              <a:latin typeface="Arial"/>
              <a:ea typeface="Arial"/>
              <a:cs typeface="Arial"/>
              <a:sym typeface="Arial"/>
            </a:endParaRPr>
          </a:p>
          <a:p>
            <a:pPr indent="-485777" lvl="1" marL="971553" marR="0" rtl="0" algn="l">
              <a:lnSpc>
                <a:spcPct val="140000"/>
              </a:lnSpc>
              <a:spcBef>
                <a:spcPts val="0"/>
              </a:spcBef>
              <a:spcAft>
                <a:spcPts val="0"/>
              </a:spcAft>
              <a:buClr>
                <a:srgbClr val="000000"/>
              </a:buClr>
              <a:buSzPts val="4500"/>
              <a:buFont typeface="Arial"/>
              <a:buChar char="•"/>
            </a:pPr>
            <a:r>
              <a:rPr b="1" i="0" lang="en-US" sz="4500" u="none" cap="none" strike="noStrike">
                <a:solidFill>
                  <a:srgbClr val="000000"/>
                </a:solidFill>
                <a:latin typeface="Arial"/>
                <a:ea typeface="Arial"/>
                <a:cs typeface="Arial"/>
                <a:sym typeface="Arial"/>
              </a:rPr>
              <a:t>Mean</a:t>
            </a:r>
            <a:r>
              <a:rPr b="0" i="0" lang="en-US" sz="4500" u="none" cap="none" strike="noStrike">
                <a:solidFill>
                  <a:srgbClr val="000000"/>
                </a:solidFill>
                <a:latin typeface="Arial"/>
                <a:ea typeface="Arial"/>
                <a:cs typeface="Arial"/>
                <a:sym typeface="Arial"/>
              </a:rPr>
              <a:t>: Average of all values</a:t>
            </a:r>
            <a:endParaRPr/>
          </a:p>
          <a:p>
            <a:pPr indent="-485777" lvl="1" marL="971553" marR="0" rtl="0" algn="l">
              <a:lnSpc>
                <a:spcPct val="140000"/>
              </a:lnSpc>
              <a:spcBef>
                <a:spcPts val="0"/>
              </a:spcBef>
              <a:spcAft>
                <a:spcPts val="0"/>
              </a:spcAft>
              <a:buClr>
                <a:srgbClr val="000000"/>
              </a:buClr>
              <a:buSzPts val="4500"/>
              <a:buFont typeface="Arial"/>
              <a:buChar char="•"/>
            </a:pPr>
            <a:r>
              <a:rPr b="1" i="0" lang="en-US" sz="4500" u="none" cap="none" strike="noStrike">
                <a:solidFill>
                  <a:srgbClr val="000000"/>
                </a:solidFill>
                <a:latin typeface="Arial"/>
                <a:ea typeface="Arial"/>
                <a:cs typeface="Arial"/>
                <a:sym typeface="Arial"/>
              </a:rPr>
              <a:t>Median</a:t>
            </a:r>
            <a:r>
              <a:rPr b="0" i="0" lang="en-US" sz="4500" u="none" cap="none" strike="noStrike">
                <a:solidFill>
                  <a:srgbClr val="000000"/>
                </a:solidFill>
                <a:latin typeface="Arial"/>
                <a:ea typeface="Arial"/>
                <a:cs typeface="Arial"/>
                <a:sym typeface="Arial"/>
              </a:rPr>
              <a:t>: Middle value of ordered data</a:t>
            </a:r>
            <a:endParaRPr/>
          </a:p>
          <a:p>
            <a:pPr indent="-485777" lvl="1" marL="971553" marR="0" rtl="0" algn="l">
              <a:lnSpc>
                <a:spcPct val="140000"/>
              </a:lnSpc>
              <a:spcBef>
                <a:spcPts val="0"/>
              </a:spcBef>
              <a:spcAft>
                <a:spcPts val="0"/>
              </a:spcAft>
              <a:buClr>
                <a:srgbClr val="000000"/>
              </a:buClr>
              <a:buSzPts val="4500"/>
              <a:buFont typeface="Arial"/>
              <a:buChar char="•"/>
            </a:pPr>
            <a:r>
              <a:rPr b="1" i="0" lang="en-US" sz="4500" u="none" cap="none" strike="noStrike">
                <a:solidFill>
                  <a:srgbClr val="000000"/>
                </a:solidFill>
                <a:latin typeface="Arial"/>
                <a:ea typeface="Arial"/>
                <a:cs typeface="Arial"/>
                <a:sym typeface="Arial"/>
              </a:rPr>
              <a:t>Mode</a:t>
            </a:r>
            <a:r>
              <a:rPr b="0" i="0" lang="en-US" sz="4500" u="none" cap="none" strike="noStrike">
                <a:solidFill>
                  <a:srgbClr val="000000"/>
                </a:solidFill>
                <a:latin typeface="Arial"/>
                <a:ea typeface="Arial"/>
                <a:cs typeface="Arial"/>
                <a:sym typeface="Arial"/>
              </a:rPr>
              <a:t>: Most frequent value in the dataset</a:t>
            </a:r>
            <a:endParaRPr/>
          </a:p>
          <a:p>
            <a:pPr indent="0" lvl="0" marL="0" marR="0" rtl="0" algn="l">
              <a:lnSpc>
                <a:spcPct val="140000"/>
              </a:lnSpc>
              <a:spcBef>
                <a:spcPts val="0"/>
              </a:spcBef>
              <a:spcAft>
                <a:spcPts val="0"/>
              </a:spcAft>
              <a:buNone/>
            </a:pPr>
            <a:r>
              <a:t/>
            </a:r>
            <a:endParaRPr sz="4500">
              <a:solidFill>
                <a:srgbClr val="000000"/>
              </a:solidFill>
              <a:latin typeface="Arial"/>
              <a:ea typeface="Arial"/>
              <a:cs typeface="Arial"/>
              <a:sym typeface="Arial"/>
            </a:endParaRPr>
          </a:p>
          <a:p>
            <a:pPr indent="0" lvl="0" marL="0" marR="0" rtl="0" algn="ctr">
              <a:lnSpc>
                <a:spcPct val="161755"/>
              </a:lnSpc>
              <a:spcBef>
                <a:spcPts val="0"/>
              </a:spcBef>
              <a:spcAft>
                <a:spcPts val="0"/>
              </a:spcAft>
              <a:buNone/>
            </a:pPr>
            <a:r>
              <a:t/>
            </a:r>
            <a:endParaRPr sz="45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14943043" y="759773"/>
            <a:ext cx="2501650" cy="537855"/>
          </a:xfrm>
          <a:custGeom>
            <a:rect b="b" l="l" r="r" t="t"/>
            <a:pathLst>
              <a:path extrusionOk="0" h="537855" w="2501650">
                <a:moveTo>
                  <a:pt x="0" y="0"/>
                </a:moveTo>
                <a:lnTo>
                  <a:pt x="2501650" y="0"/>
                </a:lnTo>
                <a:lnTo>
                  <a:pt x="2501650" y="537854"/>
                </a:lnTo>
                <a:lnTo>
                  <a:pt x="0" y="5378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4"/>
          <p:cNvSpPr txBox="1"/>
          <p:nvPr/>
        </p:nvSpPr>
        <p:spPr>
          <a:xfrm>
            <a:off x="1028700" y="923925"/>
            <a:ext cx="16207500" cy="97338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lang="en-US" sz="5099">
                <a:solidFill>
                  <a:srgbClr val="0A8F0A"/>
                </a:solidFill>
                <a:latin typeface="Arial"/>
                <a:ea typeface="Arial"/>
                <a:cs typeface="Arial"/>
                <a:sym typeface="Arial"/>
              </a:rPr>
              <a:t>Mean: </a:t>
            </a:r>
            <a:r>
              <a:rPr b="1" lang="en-US" sz="5099" u="sng">
                <a:solidFill>
                  <a:srgbClr val="0A8F0A"/>
                </a:solidFill>
                <a:latin typeface="Arial"/>
                <a:ea typeface="Arial"/>
                <a:cs typeface="Arial"/>
                <a:sym typeface="Arial"/>
              </a:rPr>
              <a:t>Average value of data</a:t>
            </a:r>
            <a:endParaRPr/>
          </a:p>
          <a:p>
            <a:pPr indent="0" lvl="0" marL="0" marR="0" rtl="0" algn="l">
              <a:lnSpc>
                <a:spcPct val="140007"/>
              </a:lnSpc>
              <a:spcBef>
                <a:spcPts val="0"/>
              </a:spcBef>
              <a:spcAft>
                <a:spcPts val="0"/>
              </a:spcAft>
              <a:buNone/>
            </a:pPr>
            <a:r>
              <a:t/>
            </a:r>
            <a:endParaRPr b="1" sz="5099" u="sng">
              <a:solidFill>
                <a:srgbClr val="0A8F0A"/>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Mean: Helps identify overall trends in continuous datasets</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Application in Data Science: Critical for analyzing large-scale datasets</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Example:</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Monthly sales data: $5000, $6000, $7000, $8000, $9000</a:t>
            </a:r>
            <a:endParaRPr/>
          </a:p>
          <a:p>
            <a:pPr indent="0" lvl="0" marL="0" marR="0" rtl="0" algn="l">
              <a:lnSpc>
                <a:spcPct val="140000"/>
              </a:lnSpc>
              <a:spcBef>
                <a:spcPts val="0"/>
              </a:spcBef>
              <a:spcAft>
                <a:spcPts val="0"/>
              </a:spcAft>
              <a:buNone/>
            </a:pPr>
            <a:r>
              <a:t/>
            </a:r>
            <a:endParaRPr sz="3600">
              <a:solidFill>
                <a:srgbClr val="000000"/>
              </a:solidFill>
              <a:latin typeface="Arial"/>
              <a:ea typeface="Arial"/>
              <a:cs typeface="Arial"/>
              <a:sym typeface="Arial"/>
            </a:endParaRPr>
          </a:p>
          <a:p>
            <a:pPr indent="0" lvl="0" marL="0" marR="0" rtl="0" algn="l">
              <a:lnSpc>
                <a:spcPct val="140000"/>
              </a:lnSpc>
              <a:spcBef>
                <a:spcPts val="0"/>
              </a:spcBef>
              <a:spcAft>
                <a:spcPts val="0"/>
              </a:spcAft>
              <a:buNone/>
            </a:pPr>
            <a:r>
              <a:t/>
            </a:r>
            <a:endParaRPr sz="3600">
              <a:solidFill>
                <a:srgbClr val="000000"/>
              </a:solidFill>
              <a:latin typeface="Arial"/>
              <a:ea typeface="Arial"/>
              <a:cs typeface="Arial"/>
              <a:sym typeface="Arial"/>
            </a:endParaRPr>
          </a:p>
          <a:p>
            <a:pPr indent="0" lvl="0" marL="0" marR="0" rtl="0" algn="l">
              <a:lnSpc>
                <a:spcPct val="140000"/>
              </a:lnSpc>
              <a:spcBef>
                <a:spcPts val="0"/>
              </a:spcBef>
              <a:spcAft>
                <a:spcPts val="0"/>
              </a:spcAft>
              <a:buNone/>
            </a:pPr>
            <a:r>
              <a:rPr b="0" i="0" lang="en-US" sz="3600" u="none" cap="none" strike="noStrike">
                <a:solidFill>
                  <a:srgbClr val="000000"/>
                </a:solidFill>
                <a:latin typeface="Arial"/>
                <a:ea typeface="Arial"/>
                <a:cs typeface="Arial"/>
                <a:sym typeface="Arial"/>
              </a:rPr>
              <a:t>Why It’s Important: Serves as a baseline for model predictions, such as sales forecasting</a:t>
            </a:r>
            <a:endParaRPr/>
          </a:p>
          <a:p>
            <a:pPr indent="0" lvl="0" marL="0" marR="0" rtl="0" algn="ctr">
              <a:lnSpc>
                <a:spcPct val="140000"/>
              </a:lnSpc>
              <a:spcBef>
                <a:spcPts val="0"/>
              </a:spcBef>
              <a:spcAft>
                <a:spcPts val="0"/>
              </a:spcAft>
              <a:buNone/>
            </a:pPr>
            <a:r>
              <a:t/>
            </a:r>
            <a:endParaRPr sz="3600">
              <a:solidFill>
                <a:srgbClr val="000000"/>
              </a:solidFill>
              <a:latin typeface="Arial"/>
              <a:ea typeface="Arial"/>
              <a:cs typeface="Arial"/>
              <a:sym typeface="Arial"/>
            </a:endParaRPr>
          </a:p>
          <a:p>
            <a:pPr indent="0" lvl="0" marL="0" marR="0" rtl="0" algn="ctr">
              <a:lnSpc>
                <a:spcPct val="140000"/>
              </a:lnSpc>
              <a:spcBef>
                <a:spcPts val="0"/>
              </a:spcBef>
              <a:spcAft>
                <a:spcPts val="0"/>
              </a:spcAft>
              <a:buNone/>
            </a:pPr>
            <a:r>
              <a:t/>
            </a:r>
            <a:endParaRPr sz="3600">
              <a:solidFill>
                <a:srgbClr val="000000"/>
              </a:solidFill>
              <a:latin typeface="Arial"/>
              <a:ea typeface="Arial"/>
              <a:cs typeface="Arial"/>
              <a:sym typeface="Arial"/>
            </a:endParaRPr>
          </a:p>
        </p:txBody>
      </p:sp>
      <p:sp>
        <p:nvSpPr>
          <p:cNvPr id="123" name="Google Shape;123;p4"/>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000000"/>
                </a:solidFill>
                <a:latin typeface="Arial"/>
                <a:ea typeface="Arial"/>
                <a:cs typeface="Arial"/>
                <a:sym typeface="Arial"/>
              </a:rPr>
              <a:t>10</a:t>
            </a:r>
            <a:endParaRPr/>
          </a:p>
        </p:txBody>
      </p:sp>
      <p:sp>
        <p:nvSpPr>
          <p:cNvPr id="124" name="Google Shape;124;p4"/>
          <p:cNvSpPr/>
          <p:nvPr/>
        </p:nvSpPr>
        <p:spPr>
          <a:xfrm>
            <a:off x="3696035" y="6182775"/>
            <a:ext cx="10895929" cy="1341575"/>
          </a:xfrm>
          <a:custGeom>
            <a:rect b="b" l="l" r="r" t="t"/>
            <a:pathLst>
              <a:path extrusionOk="0" h="1341575" w="10895929">
                <a:moveTo>
                  <a:pt x="0" y="0"/>
                </a:moveTo>
                <a:lnTo>
                  <a:pt x="10895928" y="0"/>
                </a:lnTo>
                <a:lnTo>
                  <a:pt x="10895928" y="1341574"/>
                </a:lnTo>
                <a:lnTo>
                  <a:pt x="0" y="1341574"/>
                </a:lnTo>
                <a:lnTo>
                  <a:pt x="0" y="0"/>
                </a:lnTo>
                <a:close/>
              </a:path>
            </a:pathLst>
          </a:custGeom>
          <a:blipFill rotWithShape="1">
            <a:blip r:embed="rId4">
              <a:alphaModFix/>
            </a:blip>
            <a:stretch>
              <a:fillRect b="0" l="-2782"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p:nvPr/>
        </p:nvSpPr>
        <p:spPr>
          <a:xfrm>
            <a:off x="14943043" y="759773"/>
            <a:ext cx="2501650" cy="537855"/>
          </a:xfrm>
          <a:custGeom>
            <a:rect b="b" l="l" r="r" t="t"/>
            <a:pathLst>
              <a:path extrusionOk="0" h="537855" w="2501650">
                <a:moveTo>
                  <a:pt x="0" y="0"/>
                </a:moveTo>
                <a:lnTo>
                  <a:pt x="2501650" y="0"/>
                </a:lnTo>
                <a:lnTo>
                  <a:pt x="2501650" y="537854"/>
                </a:lnTo>
                <a:lnTo>
                  <a:pt x="0" y="5378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5"/>
          <p:cNvSpPr txBox="1"/>
          <p:nvPr/>
        </p:nvSpPr>
        <p:spPr>
          <a:xfrm>
            <a:off x="1040275" y="653427"/>
            <a:ext cx="16207500" cy="94107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lang="en-US" sz="5099">
                <a:solidFill>
                  <a:srgbClr val="0A8F0A"/>
                </a:solidFill>
                <a:latin typeface="Arial"/>
                <a:ea typeface="Arial"/>
                <a:cs typeface="Arial"/>
                <a:sym typeface="Arial"/>
              </a:rPr>
              <a:t>Median: </a:t>
            </a:r>
            <a:r>
              <a:rPr b="1" lang="en-US" sz="5099" u="sng">
                <a:solidFill>
                  <a:srgbClr val="0A8F0A"/>
                </a:solidFill>
                <a:latin typeface="Arial"/>
                <a:ea typeface="Arial"/>
                <a:cs typeface="Arial"/>
                <a:sym typeface="Arial"/>
              </a:rPr>
              <a:t>Middle Value of Data</a:t>
            </a:r>
            <a:endParaRPr/>
          </a:p>
          <a:p>
            <a:pPr indent="0" lvl="0" marL="0" marR="0" rtl="0" algn="l">
              <a:lnSpc>
                <a:spcPct val="98842"/>
              </a:lnSpc>
              <a:spcBef>
                <a:spcPts val="0"/>
              </a:spcBef>
              <a:spcAft>
                <a:spcPts val="0"/>
              </a:spcAft>
              <a:buNone/>
            </a:pPr>
            <a:r>
              <a:t/>
            </a:r>
            <a:endParaRPr b="1" sz="5099" u="sng">
              <a:solidFill>
                <a:srgbClr val="0A8F0A"/>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Median: </a:t>
            </a:r>
            <a:r>
              <a:rPr b="1" i="0" lang="en-US" sz="3600" u="none" cap="none" strike="noStrike">
                <a:solidFill>
                  <a:srgbClr val="000000"/>
                </a:solidFill>
                <a:latin typeface="Arial"/>
                <a:ea typeface="Arial"/>
                <a:cs typeface="Arial"/>
                <a:sym typeface="Arial"/>
              </a:rPr>
              <a:t>Essential for skewed data distributions</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Application in Data Science: Used when data contains outliers or is not normally distributed</a:t>
            </a:r>
            <a:endParaRPr/>
          </a:p>
          <a:p>
            <a:pPr indent="0" lvl="0" marL="0" marR="0" rtl="0" algn="l">
              <a:lnSpc>
                <a:spcPct val="140000"/>
              </a:lnSpc>
              <a:spcBef>
                <a:spcPts val="0"/>
              </a:spcBef>
              <a:spcAft>
                <a:spcPts val="0"/>
              </a:spcAft>
              <a:buNone/>
            </a:pPr>
            <a:r>
              <a:t/>
            </a:r>
            <a:endParaRPr sz="3600">
              <a:solidFill>
                <a:srgbClr val="000000"/>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Example:</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Salary data: $30K, $50K, $75K, $100K, $200K</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Median salary = $75K (</a:t>
            </a:r>
            <a:r>
              <a:rPr b="1" i="0" lang="en-US" sz="3600" u="none" cap="none" strike="noStrike">
                <a:solidFill>
                  <a:srgbClr val="000000"/>
                </a:solidFill>
                <a:latin typeface="Arial"/>
                <a:ea typeface="Arial"/>
                <a:cs typeface="Arial"/>
                <a:sym typeface="Arial"/>
              </a:rPr>
              <a:t>resistant to the $200K outlier</a:t>
            </a:r>
            <a:r>
              <a:rPr b="0" i="0" lang="en-US" sz="3600" u="none" cap="none" strike="noStrike">
                <a:solidFill>
                  <a:srgbClr val="000000"/>
                </a:solidFill>
                <a:latin typeface="Arial"/>
                <a:ea typeface="Arial"/>
                <a:cs typeface="Arial"/>
                <a:sym typeface="Arial"/>
              </a:rPr>
              <a:t>)</a:t>
            </a:r>
            <a:endParaRPr sz="3600">
              <a:solidFill>
                <a:srgbClr val="000000"/>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Why It’s Important: Ideal for analyzing real-world data, such as income or property prices, where outliers are common</a:t>
            </a:r>
            <a:endParaRPr/>
          </a:p>
          <a:p>
            <a:pPr indent="0" lvl="0" marL="0" marR="0" rtl="0" algn="ctr">
              <a:lnSpc>
                <a:spcPct val="140000"/>
              </a:lnSpc>
              <a:spcBef>
                <a:spcPts val="0"/>
              </a:spcBef>
              <a:spcAft>
                <a:spcPts val="0"/>
              </a:spcAft>
              <a:buNone/>
            </a:pPr>
            <a:r>
              <a:t/>
            </a:r>
            <a:endParaRPr sz="3600">
              <a:solidFill>
                <a:srgbClr val="000000"/>
              </a:solidFill>
              <a:latin typeface="Arial"/>
              <a:ea typeface="Arial"/>
              <a:cs typeface="Arial"/>
              <a:sym typeface="Arial"/>
            </a:endParaRPr>
          </a:p>
        </p:txBody>
      </p:sp>
      <p:sp>
        <p:nvSpPr>
          <p:cNvPr id="135" name="Google Shape;135;p5"/>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000000"/>
                </a:solidFill>
                <a:latin typeface="Arial"/>
                <a:ea typeface="Arial"/>
                <a:cs typeface="Arial"/>
                <a:sym typeface="Arial"/>
              </a:rPr>
              <a:t>11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p:nvPr/>
        </p:nvSpPr>
        <p:spPr>
          <a:xfrm>
            <a:off x="14943043" y="759773"/>
            <a:ext cx="2501650" cy="537855"/>
          </a:xfrm>
          <a:custGeom>
            <a:rect b="b" l="l" r="r" t="t"/>
            <a:pathLst>
              <a:path extrusionOk="0" h="537855" w="2501650">
                <a:moveTo>
                  <a:pt x="0" y="0"/>
                </a:moveTo>
                <a:lnTo>
                  <a:pt x="2501650" y="0"/>
                </a:lnTo>
                <a:lnTo>
                  <a:pt x="2501650" y="537854"/>
                </a:lnTo>
                <a:lnTo>
                  <a:pt x="0" y="53785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6"/>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000">
                <a:solidFill>
                  <a:srgbClr val="000000"/>
                </a:solidFill>
                <a:latin typeface="Arial"/>
                <a:ea typeface="Arial"/>
                <a:cs typeface="Arial"/>
                <a:sym typeface="Arial"/>
              </a:rPr>
              <a:t>12</a:t>
            </a:r>
            <a:endParaRPr/>
          </a:p>
        </p:txBody>
      </p:sp>
      <p:sp>
        <p:nvSpPr>
          <p:cNvPr id="146" name="Google Shape;146;p6"/>
          <p:cNvSpPr txBox="1"/>
          <p:nvPr/>
        </p:nvSpPr>
        <p:spPr>
          <a:xfrm>
            <a:off x="1237202" y="826040"/>
            <a:ext cx="16207500" cy="86349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lang="en-US" sz="5099">
                <a:solidFill>
                  <a:srgbClr val="0A8F0A"/>
                </a:solidFill>
                <a:latin typeface="Arial"/>
                <a:ea typeface="Arial"/>
                <a:cs typeface="Arial"/>
                <a:sym typeface="Arial"/>
              </a:rPr>
              <a:t>Mode: </a:t>
            </a:r>
            <a:r>
              <a:rPr b="1" lang="en-US" sz="5099" u="sng">
                <a:solidFill>
                  <a:srgbClr val="0A8F0A"/>
                </a:solidFill>
                <a:latin typeface="Arial"/>
                <a:ea typeface="Arial"/>
                <a:cs typeface="Arial"/>
                <a:sym typeface="Arial"/>
              </a:rPr>
              <a:t>Most Frequent Value</a:t>
            </a:r>
            <a:endParaRPr/>
          </a:p>
          <a:p>
            <a:pPr indent="0" lvl="0" marL="0" marR="0" rtl="0" algn="l">
              <a:lnSpc>
                <a:spcPct val="98842"/>
              </a:lnSpc>
              <a:spcBef>
                <a:spcPts val="0"/>
              </a:spcBef>
              <a:spcAft>
                <a:spcPts val="0"/>
              </a:spcAft>
              <a:buNone/>
            </a:pPr>
            <a:r>
              <a:t/>
            </a:r>
            <a:endParaRPr b="1" sz="5099" u="sng">
              <a:solidFill>
                <a:srgbClr val="0A8F0A"/>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Identifies the most frequent occurrence in data</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Application in Data Science: </a:t>
            </a:r>
            <a:r>
              <a:rPr b="1" i="0" lang="en-US" sz="3600" u="none" cap="none" strike="noStrike">
                <a:solidFill>
                  <a:srgbClr val="000000"/>
                </a:solidFill>
                <a:latin typeface="Arial"/>
                <a:ea typeface="Arial"/>
                <a:cs typeface="Arial"/>
                <a:sym typeface="Arial"/>
              </a:rPr>
              <a:t>Helps find patterns and trends in categorical data</a:t>
            </a:r>
            <a:endParaRPr/>
          </a:p>
          <a:p>
            <a:pPr indent="0" lvl="0" marL="0" marR="0" rtl="0" algn="l">
              <a:lnSpc>
                <a:spcPct val="140000"/>
              </a:lnSpc>
              <a:spcBef>
                <a:spcPts val="0"/>
              </a:spcBef>
              <a:spcAft>
                <a:spcPts val="0"/>
              </a:spcAft>
              <a:buNone/>
            </a:pPr>
            <a:r>
              <a:t/>
            </a:r>
            <a:endParaRPr b="1" sz="3600">
              <a:solidFill>
                <a:srgbClr val="000000"/>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Example:</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Survey ratings: 1, 2, 3, 4, 4, 4, 5</a:t>
            </a:r>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Mode = 4 (most frequent rating)</a:t>
            </a:r>
            <a:endParaRPr sz="3600">
              <a:solidFill>
                <a:srgbClr val="000000"/>
              </a:solidFill>
              <a:latin typeface="Arial"/>
              <a:ea typeface="Arial"/>
              <a:cs typeface="Arial"/>
              <a:sym typeface="Arial"/>
            </a:endParaRPr>
          </a:p>
          <a:p>
            <a:pPr indent="-388620" lvl="1" marL="777240" marR="0" rtl="0" algn="l">
              <a:lnSpc>
                <a:spcPct val="140000"/>
              </a:lnSpc>
              <a:spcBef>
                <a:spcPts val="0"/>
              </a:spcBef>
              <a:spcAft>
                <a:spcPts val="0"/>
              </a:spcAft>
              <a:buClr>
                <a:srgbClr val="000000"/>
              </a:buClr>
              <a:buSzPts val="3600"/>
              <a:buFont typeface="Arial"/>
              <a:buChar char="•"/>
            </a:pPr>
            <a:r>
              <a:rPr b="0" i="0" lang="en-US" sz="3600" u="none" cap="none" strike="noStrike">
                <a:solidFill>
                  <a:srgbClr val="000000"/>
                </a:solidFill>
                <a:latin typeface="Arial"/>
                <a:ea typeface="Arial"/>
                <a:cs typeface="Arial"/>
                <a:sym typeface="Arial"/>
              </a:rPr>
              <a:t>Why It’s Important: Critical for understanding customer preferences, behavior, and market trends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