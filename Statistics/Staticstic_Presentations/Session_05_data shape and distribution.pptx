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i8UP1exE2qIVf1v5ux/WAcO1M3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787891" y="3343753"/>
            <a:ext cx="14712218" cy="340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Shape &amp; Distribution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882775" y="868948"/>
            <a:ext cx="15567900" cy="8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8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Data Shape and Distribution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38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Essential for understanding how data behaves</a:t>
            </a:r>
            <a:endParaRPr/>
          </a:p>
          <a:p>
            <a:pPr indent="-479117" lvl="1" marL="958236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38"/>
              <a:buFont typeface="Arial"/>
              <a:buChar char="•"/>
            </a:pPr>
            <a:r>
              <a:rPr b="0" i="0" lang="en-US" sz="4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decide appropriate data transformations</a:t>
            </a:r>
            <a:endParaRPr/>
          </a:p>
          <a:p>
            <a:pPr indent="-479117" lvl="1" marL="958236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38"/>
              <a:buFont typeface="Arial"/>
              <a:buChar char="•"/>
            </a:pPr>
            <a:r>
              <a:rPr b="0" i="0" lang="en-US" sz="4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Crucial for model selection and predictions</a:t>
            </a:r>
            <a:endParaRPr/>
          </a:p>
          <a:p>
            <a:pPr indent="-479117" lvl="1" marL="958236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38"/>
              <a:buFont typeface="Arial"/>
              <a:buChar char="•"/>
            </a:pPr>
            <a:r>
              <a:rPr b="0" i="0" lang="en-US" sz="4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Influences outlier detection and risk assessment</a:t>
            </a:r>
            <a:endParaRPr b="0" i="0" sz="44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38"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r>
              <a:rPr b="0" i="0" lang="en-US" sz="4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Helps improve model accuracy by tailoring analysis to the data's distribution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1028700" y="2482067"/>
            <a:ext cx="15567900" cy="5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8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Data Shape and Distribution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38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0789" lvl="2" marL="2132368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8"/>
              <a:buFont typeface="Arial"/>
              <a:buChar char="⚬"/>
            </a:pPr>
            <a:r>
              <a:rPr b="1" i="0" lang="en-US" sz="4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Skewness: </a:t>
            </a:r>
            <a:r>
              <a:rPr b="0" i="0" lang="en-US" sz="4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Direction of data asymmetry</a:t>
            </a:r>
            <a:endParaRPr/>
          </a:p>
          <a:p>
            <a:pPr indent="-710789" lvl="2" marL="2132368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8"/>
              <a:buFont typeface="Arial"/>
              <a:buChar char="⚬"/>
            </a:pPr>
            <a:r>
              <a:rPr b="1" i="0" lang="en-US" sz="4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Kurtosis: </a:t>
            </a:r>
            <a:r>
              <a:rPr b="0" i="0" lang="en-US" sz="4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peakedness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3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1028700" y="923925"/>
            <a:ext cx="16803000" cy="9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Skewness: </a:t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the asymmetry of a dataset’s distribution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assess data symmetry and decide the type of model to use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i="1"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Housing prices: $50K, $150K, $200K, $1M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skew (right tail): A few extremely high property prices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Important: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Identifies the need for data transformation or special handling before analysis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1691378" y="1100940"/>
            <a:ext cx="15567900" cy="51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8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Skewness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38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196" lvl="1" marL="634395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8"/>
              <a:buFont typeface="Arial"/>
              <a:buChar char="•"/>
            </a:pPr>
            <a:r>
              <a:rPr b="1" i="0" lang="en-US" sz="2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data asymmetry</a:t>
            </a:r>
            <a:endParaRPr/>
          </a:p>
          <a:p>
            <a:pPr indent="-317196" lvl="1" marL="634395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8"/>
              <a:buFont typeface="Arial"/>
              <a:buChar char="•"/>
            </a:pPr>
            <a:r>
              <a:rPr b="1" i="0" lang="en-US" sz="2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Types:</a:t>
            </a:r>
            <a:endParaRPr/>
          </a:p>
          <a:p>
            <a:pPr indent="-422930" lvl="2" marL="1268789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8"/>
              <a:buFont typeface="Arial"/>
              <a:buChar char="⚬"/>
            </a:pPr>
            <a:r>
              <a:rPr b="1" i="0" lang="en-US" sz="2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Skew: </a:t>
            </a:r>
            <a:r>
              <a:rPr b="0" i="0" lang="en-US" sz="2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tail longer</a:t>
            </a:r>
            <a:endParaRPr/>
          </a:p>
          <a:p>
            <a:pPr indent="-422930" lvl="2" marL="1268789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8"/>
              <a:buFont typeface="Arial"/>
              <a:buChar char="⚬"/>
            </a:pPr>
            <a:r>
              <a:rPr b="1" i="0" lang="en-US" sz="2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Skew: </a:t>
            </a:r>
            <a:r>
              <a:rPr b="0" i="0" lang="en-US" sz="29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tail longer</a:t>
            </a:r>
            <a:endParaRPr/>
          </a:p>
          <a:p>
            <a:pPr indent="0" lvl="0" marL="0" marR="0" rtl="0" algn="ctr">
              <a:lnSpc>
                <a:spcPct val="235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3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144000" y="1767936"/>
            <a:ext cx="7140736" cy="2543887"/>
          </a:xfrm>
          <a:custGeom>
            <a:rect b="b" l="l" r="r" t="t"/>
            <a:pathLst>
              <a:path extrusionOk="0" h="2543887" w="7140736">
                <a:moveTo>
                  <a:pt x="0" y="0"/>
                </a:moveTo>
                <a:lnTo>
                  <a:pt x="7140736" y="0"/>
                </a:lnTo>
                <a:lnTo>
                  <a:pt x="7140736" y="2543887"/>
                </a:lnTo>
                <a:lnTo>
                  <a:pt x="0" y="25438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976042" y="4681284"/>
            <a:ext cx="5813293" cy="5813293"/>
          </a:xfrm>
          <a:custGeom>
            <a:rect b="b" l="l" r="r" t="t"/>
            <a:pathLst>
              <a:path extrusionOk="0" h="5813293" w="5813293">
                <a:moveTo>
                  <a:pt x="0" y="0"/>
                </a:moveTo>
                <a:lnTo>
                  <a:pt x="5813293" y="0"/>
                </a:lnTo>
                <a:lnTo>
                  <a:pt x="5813293" y="5813293"/>
                </a:lnTo>
                <a:lnTo>
                  <a:pt x="0" y="5813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2261151" y="7348559"/>
            <a:ext cx="64182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the example of housing prices</a:t>
            </a:r>
            <a:endParaRPr/>
          </a:p>
          <a:p>
            <a:pPr indent="0" lvl="0" marL="0" marR="0" rtl="0" algn="just">
              <a:lnSpc>
                <a:spcPct val="235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3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742500" y="759775"/>
            <a:ext cx="16803000" cy="9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Kurtosis: </a:t>
            </a:r>
            <a:endParaRPr/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the 'tailedness' or concentration of data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detect outliers and understand the risk in data distributions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i="1"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Stock returns: 5%, -2%, 10%, 3%, 30%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kurtosis (</a:t>
            </a:r>
            <a:r>
              <a:rPr lang="en-US" sz="3600"/>
              <a:t>heavy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tails): A few extreme values outside the usual range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Essential for risk assessment, portfolio management, and handling extreme data points in models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302474" y="1297627"/>
            <a:ext cx="6456810" cy="4301849"/>
          </a:xfrm>
          <a:custGeom>
            <a:rect b="b" l="l" r="r" t="t"/>
            <a:pathLst>
              <a:path extrusionOk="0" h="4301849" w="6456810">
                <a:moveTo>
                  <a:pt x="0" y="0"/>
                </a:moveTo>
                <a:lnTo>
                  <a:pt x="6456810" y="0"/>
                </a:lnTo>
                <a:lnTo>
                  <a:pt x="6456810" y="4301850"/>
                </a:lnTo>
                <a:lnTo>
                  <a:pt x="0" y="4301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2157714" y="5599477"/>
            <a:ext cx="6078399" cy="4049733"/>
          </a:xfrm>
          <a:custGeom>
            <a:rect b="b" l="l" r="r" t="t"/>
            <a:pathLst>
              <a:path extrusionOk="0" h="4049733" w="6078399">
                <a:moveTo>
                  <a:pt x="0" y="0"/>
                </a:moveTo>
                <a:lnTo>
                  <a:pt x="6078399" y="0"/>
                </a:lnTo>
                <a:lnTo>
                  <a:pt x="6078399" y="4049733"/>
                </a:lnTo>
                <a:lnTo>
                  <a:pt x="0" y="4049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413959" y="5326085"/>
            <a:ext cx="4233840" cy="4233840"/>
          </a:xfrm>
          <a:custGeom>
            <a:rect b="b" l="l" r="r" t="t"/>
            <a:pathLst>
              <a:path extrusionOk="0" h="4233840" w="4233840">
                <a:moveTo>
                  <a:pt x="0" y="0"/>
                </a:moveTo>
                <a:lnTo>
                  <a:pt x="4233840" y="0"/>
                </a:lnTo>
                <a:lnTo>
                  <a:pt x="4233840" y="4233840"/>
                </a:lnTo>
                <a:lnTo>
                  <a:pt x="0" y="4233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785567" y="933450"/>
            <a:ext cx="6822694" cy="4275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8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Kurtosis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38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9079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data peakedness</a:t>
            </a:r>
            <a:endParaRPr/>
          </a:p>
          <a:p>
            <a:pPr indent="-259079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Types:</a:t>
            </a:r>
            <a:endParaRPr/>
          </a:p>
          <a:p>
            <a:pPr indent="-345439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Kurtosis: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Sharp peak, heavy tails</a:t>
            </a:r>
            <a:endParaRPr/>
          </a:p>
          <a:p>
            <a:pPr indent="-345439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Kurtosis: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Flattened distribution</a:t>
            </a:r>
            <a:endParaRPr/>
          </a:p>
          <a:p>
            <a:pPr indent="0" lvl="0" marL="0" marR="0" rtl="0" algn="ctr">
              <a:lnSpc>
                <a:spcPct val="288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